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regular.fntdata"/><Relationship Id="rId21" Type="http://schemas.openxmlformats.org/officeDocument/2006/relationships/slide" Target="slides/slide16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12a8d8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512a8d8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12a8d8b3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12a8d8b3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12a8d8b3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12a8d8b3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0703a2061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50703a206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0703a206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0703a206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15dfc69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15dfc69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0703a2061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0703a206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0703a2061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50703a206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0703a2061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0703a206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0703a206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50703a206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0703a2061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0703a2061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15dfc69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515dfc69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15dfc693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15dfc693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15dfc693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15dfc693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0703a2061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0703a2061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12a8d8b34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12a8d8b34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6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kalyasri/Tic-Tac-Toe.gi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04.20.2025</a:t>
            </a:r>
            <a:endParaRPr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1273275" y="753350"/>
            <a:ext cx="32985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TIC TAC TOE</a:t>
            </a:r>
            <a:br>
              <a:rPr lang="en" sz="8500"/>
            </a:br>
            <a:r>
              <a:rPr b="0" lang="en" sz="1600"/>
              <a:t>Akalya Sridharan </a:t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&amp; Khushi Panchal</a:t>
            </a:r>
            <a:endParaRPr b="0" sz="1600"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3725" y="210651"/>
            <a:ext cx="4496375" cy="472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82" name="Google Shape;282;p43"/>
          <p:cNvSpPr txBox="1"/>
          <p:nvPr>
            <p:ph idx="1" type="body"/>
          </p:nvPr>
        </p:nvSpPr>
        <p:spPr>
          <a:xfrm>
            <a:off x="6037174" y="2753775"/>
            <a:ext cx="29394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Motivation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Minimax Algorithm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RL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Overview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Depth-Limited Minimax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Methodology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code review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Insights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43"/>
          <p:cNvCxnSpPr/>
          <p:nvPr/>
        </p:nvCxnSpPr>
        <p:spPr>
          <a:xfrm flipH="1" rot="10800000">
            <a:off x="563100" y="2753775"/>
            <a:ext cx="6319800" cy="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3"/>
          <p:cNvCxnSpPr/>
          <p:nvPr/>
        </p:nvCxnSpPr>
        <p:spPr>
          <a:xfrm>
            <a:off x="563100" y="3000800"/>
            <a:ext cx="6051600" cy="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 flipH="1" rot="10800000">
            <a:off x="563100" y="3241250"/>
            <a:ext cx="63807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 flipH="1" rot="10800000">
            <a:off x="563100" y="3466875"/>
            <a:ext cx="5783700" cy="1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3"/>
          <p:cNvCxnSpPr/>
          <p:nvPr/>
        </p:nvCxnSpPr>
        <p:spPr>
          <a:xfrm>
            <a:off x="563100" y="3719100"/>
            <a:ext cx="59907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43"/>
          <p:cNvCxnSpPr/>
          <p:nvPr/>
        </p:nvCxnSpPr>
        <p:spPr>
          <a:xfrm flipH="1" rot="10800000">
            <a:off x="563100" y="3972425"/>
            <a:ext cx="58689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43"/>
          <p:cNvCxnSpPr/>
          <p:nvPr/>
        </p:nvCxnSpPr>
        <p:spPr>
          <a:xfrm flipH="1" rot="10800000">
            <a:off x="563100" y="4228500"/>
            <a:ext cx="64296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43"/>
          <p:cNvCxnSpPr/>
          <p:nvPr/>
        </p:nvCxnSpPr>
        <p:spPr>
          <a:xfrm>
            <a:off x="563100" y="4460700"/>
            <a:ext cx="627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43"/>
          <p:cNvCxnSpPr/>
          <p:nvPr/>
        </p:nvCxnSpPr>
        <p:spPr>
          <a:xfrm>
            <a:off x="563100" y="4698825"/>
            <a:ext cx="718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2" name="Google Shape;292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PRODUCT OVERVIEW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0" name="Google Shape;300;p44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 Motivation</a:t>
            </a:r>
            <a:endParaRPr sz="3000"/>
          </a:p>
        </p:txBody>
      </p:sp>
      <p:sp>
        <p:nvSpPr>
          <p:cNvPr id="301" name="Google Shape;301;p44"/>
          <p:cNvSpPr txBox="1"/>
          <p:nvPr/>
        </p:nvSpPr>
        <p:spPr>
          <a:xfrm>
            <a:off x="343875" y="1608025"/>
            <a:ext cx="84039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Tic-Tac-Toe on 3x3 is predictable — often ending in draws.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Scaling to NxN boards (4x4, 5x5) exponentially increases complexity.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New problems arise: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Larger state space.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More possibility trees to explore.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Our Goal: Create an AI that plays optimally and responsively for any board size.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Real-world inspiration: AI in complex games like Connect Four, Go, Chess.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7" name="Google Shape;307;p45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Minimax Algorithm</a:t>
            </a:r>
            <a:endParaRPr sz="3000"/>
          </a:p>
        </p:txBody>
      </p:sp>
      <p:sp>
        <p:nvSpPr>
          <p:cNvPr id="308" name="Google Shape;308;p45"/>
          <p:cNvSpPr txBox="1"/>
          <p:nvPr/>
        </p:nvSpPr>
        <p:spPr>
          <a:xfrm>
            <a:off x="343875" y="1411950"/>
            <a:ext cx="8455500" cy="3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Minimax recursively explores all possible game states.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Max player (AI) tries to maximize the final score.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 player (Opponent) tries to minimize it.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Utility values: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Win: +1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Loss: -1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Draw: 0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Implementation Details (ttt.py):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minimax(board, k, depth_limit) orchestrates the decision.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max_alpha_beta() and min_alpha_beta() recursively traverse possibilities.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46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Alpha-Beta Pruning</a:t>
            </a:r>
            <a:endParaRPr sz="3000"/>
          </a:p>
        </p:txBody>
      </p:sp>
      <p:sp>
        <p:nvSpPr>
          <p:cNvPr id="315" name="Google Shape;315;p46"/>
          <p:cNvSpPr txBox="1"/>
          <p:nvPr/>
        </p:nvSpPr>
        <p:spPr>
          <a:xfrm>
            <a:off x="343875" y="1608025"/>
            <a:ext cx="80688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Problem: Pure Minimax is too slow for large boards.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Solution: Alpha-Beta pruning cuts off irrelevant branches early.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Alpha (α) = best already explored option for Maximizer.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Beta (β) = best already explored option for Minimizer.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When to prune: If β ≤ α, we stop exploring further down that branch.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Result: Same move chosen, but far fewer nodes visited!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1" name="Google Shape;321;p47"/>
          <p:cNvSpPr txBox="1"/>
          <p:nvPr>
            <p:ph type="title"/>
          </p:nvPr>
        </p:nvSpPr>
        <p:spPr>
          <a:xfrm>
            <a:off x="226525" y="5544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Monte Carlo Reinforcement Learning</a:t>
            </a:r>
            <a:endParaRPr sz="3000"/>
          </a:p>
        </p:txBody>
      </p:sp>
      <p:sp>
        <p:nvSpPr>
          <p:cNvPr id="322" name="Google Shape;322;p47"/>
          <p:cNvSpPr txBox="1"/>
          <p:nvPr/>
        </p:nvSpPr>
        <p:spPr>
          <a:xfrm>
            <a:off x="343875" y="1528850"/>
            <a:ext cx="8068800" cy="3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Problem : Algorithm like 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Minimax requires full search  of the game tree.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Solution: We use reinforcement Learning which solely acts through experience.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need to add pre programmed “good moves”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Monte Carlo Reinforcement Learning is great for finite 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games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like Tic-Tac-Toe.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8" name="Google Shape;328;p48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MiniMax Implementation </a:t>
            </a:r>
            <a:endParaRPr sz="3000"/>
          </a:p>
        </p:txBody>
      </p:sp>
      <p:sp>
        <p:nvSpPr>
          <p:cNvPr id="329" name="Google Shape;329;p48"/>
          <p:cNvSpPr txBox="1"/>
          <p:nvPr/>
        </p:nvSpPr>
        <p:spPr>
          <a:xfrm>
            <a:off x="343875" y="1449750"/>
            <a:ext cx="84039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Frontend (game.py):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Built with pygame for dynamic visual interaction.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Background gradient and button hover effects for a polished UI.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Backend (ttt.py):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Full game logic: player switching, move validation, win checking, AI moves.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Features: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Adjustable NxN board size (user input).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Responsive tile resizing for different screen dimensions.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Replay feature with a "Play Again" button.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5" name="Google Shape;335;p49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Depth-Limited Minimax</a:t>
            </a:r>
            <a:endParaRPr sz="3000"/>
          </a:p>
        </p:txBody>
      </p:sp>
      <p:sp>
        <p:nvSpPr>
          <p:cNvPr id="336" name="Google Shape;336;p49"/>
          <p:cNvSpPr txBox="1"/>
          <p:nvPr/>
        </p:nvSpPr>
        <p:spPr>
          <a:xfrm>
            <a:off x="343875" y="1608025"/>
            <a:ext cx="80688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Full tree exploration on large boards is infeasible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Introduced a depth limit (e.g., 5) to cap recursion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Trade-off: faster decisions vs. potentially non-optimal moves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Prevents stack overflow and improves responsiveness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2" name="Google Shape;342;p50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Demo Scenarios</a:t>
            </a:r>
            <a:endParaRPr sz="3000"/>
          </a:p>
        </p:txBody>
      </p:sp>
      <p:sp>
        <p:nvSpPr>
          <p:cNvPr id="343" name="Google Shape;343;p50"/>
          <p:cNvSpPr txBox="1"/>
          <p:nvPr/>
        </p:nvSpPr>
        <p:spPr>
          <a:xfrm>
            <a:off x="343875" y="1608025"/>
            <a:ext cx="80688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Human vs. AI: Play as X or O through interactive UI.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AI vs. Random Moves: Benchmark AI intelligence.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Dynamic Board Size: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Board resizes based on user input (e.g., 3x3, 5x5, 6x6).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 Again Feature: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Immediate board reset to replay without restarting the game.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9" name="Google Shape;349;p51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Evaluation Methodology</a:t>
            </a:r>
            <a:endParaRPr sz="3000"/>
          </a:p>
        </p:txBody>
      </p:sp>
      <p:sp>
        <p:nvSpPr>
          <p:cNvPr id="350" name="Google Shape;350;p51"/>
          <p:cNvSpPr txBox="1"/>
          <p:nvPr/>
        </p:nvSpPr>
        <p:spPr>
          <a:xfrm>
            <a:off x="343875" y="1608025"/>
            <a:ext cx="80688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Metrics Recorded: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Time per move (seconds).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Win/loss/draw outcome (success rate vs human/random moves).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Number of pruned nodes (optional for deeper analysis).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Testing Setup: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Board Sizes: 3x3, 4x4, 5x5.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Depth Limits: 3, 4, 5.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 games per configuration.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6" name="Google Shape;356;p52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Results &amp; Insights</a:t>
            </a:r>
            <a:endParaRPr sz="3000"/>
          </a:p>
        </p:txBody>
      </p:sp>
      <p:sp>
        <p:nvSpPr>
          <p:cNvPr id="357" name="Google Shape;357;p52"/>
          <p:cNvSpPr txBox="1"/>
          <p:nvPr/>
        </p:nvSpPr>
        <p:spPr>
          <a:xfrm>
            <a:off x="343875" y="1386725"/>
            <a:ext cx="8403900" cy="3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Alpha-Beta Pruning: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Reduced node evaluation by 40-60% on average.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Depth 4: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80% win rate against random opponent on 4x4.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Responsiveness: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moves under 1s on 3x3 and 4x4 boards.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Works for any NxN with no additional code change — just user input.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3" name="Google Shape;363;p53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Monte Carlo Implementation</a:t>
            </a:r>
            <a:endParaRPr sz="3000"/>
          </a:p>
        </p:txBody>
      </p:sp>
      <p:sp>
        <p:nvSpPr>
          <p:cNvPr id="364" name="Google Shape;364;p53"/>
          <p:cNvSpPr txBox="1"/>
          <p:nvPr/>
        </p:nvSpPr>
        <p:spPr>
          <a:xfrm>
            <a:off x="343875" y="1386725"/>
            <a:ext cx="8403900" cy="3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Frontend (tictactoe.py) 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Setup the board and reset.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Legal moves check as well as detects wins, draw for ongoing game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Backend (mcts.py):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Uses ε- greedy policy to move.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Tracks the visited box during the game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Features: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Learns completely by experience.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0" name="Google Shape;370;p54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Training Agent</a:t>
            </a:r>
            <a:endParaRPr sz="3000"/>
          </a:p>
        </p:txBody>
      </p:sp>
      <p:sp>
        <p:nvSpPr>
          <p:cNvPr id="371" name="Google Shape;371;p54"/>
          <p:cNvSpPr txBox="1"/>
          <p:nvPr/>
        </p:nvSpPr>
        <p:spPr>
          <a:xfrm>
            <a:off x="343875" y="1386725"/>
            <a:ext cx="8403900" cy="3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Training Loop : resets the board, alternate moves between 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agent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opponent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After game, calculates the points: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+1 for winning.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 for draw.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-1 for loss.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ε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-greedy: Moves randomly with probability ε, or chooses the best move otherwise.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7" name="Google Shape;377;p55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Results &amp; Insights</a:t>
            </a:r>
            <a:endParaRPr sz="3000"/>
          </a:p>
        </p:txBody>
      </p:sp>
      <p:sp>
        <p:nvSpPr>
          <p:cNvPr id="378" name="Google Shape;378;p55"/>
          <p:cNvSpPr txBox="1"/>
          <p:nvPr/>
        </p:nvSpPr>
        <p:spPr>
          <a:xfrm>
            <a:off x="343875" y="1386725"/>
            <a:ext cx="8403900" cy="3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Average Move Time: ~0.35s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Performance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MCTS consistently beats the opponents with high win rates.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Optimal Play: At 1000 simulations, MCTS surpasses the performance of a perfect minimax agent.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Trade-off: Higher simulation count improves quality but increases response time.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TIC TAC TOE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4" name="Google Shape;384;p56"/>
          <p:cNvSpPr txBox="1"/>
          <p:nvPr>
            <p:ph type="title"/>
          </p:nvPr>
        </p:nvSpPr>
        <p:spPr>
          <a:xfrm>
            <a:off x="226525" y="630625"/>
            <a:ext cx="8521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We Learned</a:t>
            </a:r>
            <a:endParaRPr sz="3000"/>
          </a:p>
        </p:txBody>
      </p:sp>
      <p:sp>
        <p:nvSpPr>
          <p:cNvPr id="385" name="Google Shape;385;p56"/>
          <p:cNvSpPr txBox="1"/>
          <p:nvPr/>
        </p:nvSpPr>
        <p:spPr>
          <a:xfrm>
            <a:off x="343875" y="1608025"/>
            <a:ext cx="80688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Classic AI algorithms (Minimax + Alpha-Beta) remain powerful when optimized.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Responsiveness is key for user engagement in real-time games.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Future Improvements: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a heuristic evaluation for large unfinished boards.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 iterative deepening for smarter depth management.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Link to GitHub repo and demo notebook for reproducibility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Inter"/>
              <a:buChar char="○"/>
            </a:pPr>
            <a:r>
              <a:rPr lang="en" sz="1800" u="sng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https://github.com/akalyasri/Tic-Tac-Toe.git</a:t>
            </a:r>
            <a:endParaRPr sz="1800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91" name="Google Shape;391;p57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Khushi, Akalya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